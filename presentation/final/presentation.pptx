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기억할 문장: 지역성을 지키는 정적 큐도 작업이 치우치면 Tail latency를 키울 수 있습니다.</a:t>
            </a:r>
          </a:p>
          <a:p/>
          <a:p>
            <a:r>
              <a:t>오늘 말씀드릴 질문은 단순히 메모리 대역폭이 중요한가가 아닙니다. 실제 Gemma 3 1B 작업을 여러 연산 클러스터에 나눌 때, 정적 소유권 때문에 일부 큐가 길어지고 다른 클러스터가 쉬는 상황을 어떻게 줄일 것인가입니다.</a:t>
            </a:r>
          </a:p>
          <a:p/>
          <a:p>
            <a:r>
              <a:t>제안 구조는 K26 연산 SoC와 외부 Memory FPGA를 결합하고, Multi-Queue FCFS 위에 지역성 비용을 고려한 Work Stealing을 적용합니다. 핵심은 무조건 작업을 옮기는 것이 아니라, Tail을 줄이는 이득이 링크·메모리 이동 비용보다 큰 조건을 찾는 것입니다.</a:t>
            </a:r>
          </a:p>
          <a:p/>
          <a:p>
            <a:r>
              <a:t>먼저 정적 큐에서 왜 Tail이 생기는지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기억할 문장: 정적 로컬 큐는 지역성을 지키지만 부하 균형을 보장하지 않습니다.</a:t>
            </a:r>
          </a:p>
          <a:p/>
          <a:p>
            <a:r>
              <a:t>S1 정적 로컬 큐에서는 각 TileJob이 home cluster의 FCFS 큐에 들어갑니다. 이 방식은 원격 가중치 이동을 만들지 않는 장점이 있지만, skew가 생기면 Cluster 0의 큐만 길어지고 나머지 클러스터는 할 일이 없어집니다.</a:t>
            </a:r>
          </a:p>
          <a:p/>
          <a:p>
            <a:r>
              <a:t>평균 지연만 보면 이 현상이 약하게 보일 수 있습니다. 하지만 사용자 체감과 시스템의 느린 요청을 결정하는 p95와 p99에서는 긴 queue wait가 그대로 드러납니다. 따라서 이 연구의 목표는 평균 처리량보다 Tail을 줄이면서 이동 비용을 통제하는 것입니다.</a:t>
            </a:r>
          </a:p>
          <a:p/>
          <a:p>
            <a:r>
              <a:t>이 문제를 풀기 위해 계산 소유권과 메모리 친화도를 분리한 구조를 설계했습니다.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기억할 문장: 이 구조는 계산할 위치와 데이터를 가져올 위치를 TileJob에서 분리합니다.</a:t>
            </a:r>
          </a:p>
          <a:p/>
          <a:p>
            <a:r>
              <a:t>왼쪽 K26에는 TileScheduler, payload store, 네 개의 compute cluster와 signed INT8 16×4 MatVec가 있습니다. TileJob은 작업 identity, K/N 범위, weight·activation 주소, preferred channel과 link bundle을 보존합니다.</a:t>
            </a:r>
          </a:p>
          <a:p/>
          <a:p>
            <a:r>
              <a:t>오른쪽 Memory FPGA 후보는 네 DDR3L 채널과 네 link bundle을 통해 weight service를 분리하는 구조입니다. 스케줄러는 어느 cluster가 계산할지 정하고, channel affinity는 데이터 이동 비용을 계산하는 기준이 됩니다.</a:t>
            </a:r>
          </a:p>
          <a:p/>
          <a:p>
            <a:r>
              <a:t>현재 runnable RTL은 scheduler에서 payload store와 MatVec 결과까지입니다. DDR response와 link receive의 완전한 폐루프는 다음 검증 단계이며, 오늘의 중심은 이 구조 위에서 scheduling 조건을 분석한 결과입니다.</a:t>
            </a:r>
          </a:p>
          <a:p/>
          <a:p>
            <a:r>
              <a:t>이제 유휴 클러스터가 어떤 규칙으로 작업을 가져오는지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기억할 문장: S3 지역성 인식 Work Stealing은 가장 오래된 작업이 아니라 이득이 남는 작업을 훔칩니다.</a:t>
            </a:r>
          </a:p>
          <a:p/>
          <a:p>
            <a:r>
              <a:t>첫째, local queue가 비면 cluster가 유휴 상태임을 확인합니다. 둘째, 다른 victim queue에서 실행 가능한 작업을 탐색합니다. 셋째, job age에서 원격 weight, activation, reduction owner와 bundle mismatch 비용을 뺀 locality score를 계산합니다.</a:t>
            </a:r>
          </a:p>
          <a:p/>
          <a:p>
            <a:r>
              <a:t>넷째, score가 양수인 eligible TileJob을 선택해 유휴 cluster로 옮깁니다. 마지막으로 job identity를 유지해 정확히 한 번만 completion이 발생하는지 검사합니다.</a:t>
            </a:r>
          </a:p>
          <a:p/>
          <a:p>
            <a:r>
              <a:t>비교 기준인 S2는 가장 오래된 eligible job을 바로 가져옵니다. S3는 이동량을 줄이기 위해 지역성 비용을 함께 보므로 Tail과 remote traffic 사이의 절충이 생깁니다.</a:t>
            </a:r>
          </a:p>
          <a:p/>
          <a:p>
            <a:r>
              <a:t>이 다섯 단계는 정책 개념을 설명합니다. 분석 모델은 victim queue의 모든 eligible job을 탐색하지만 현재 RTL은 victim head만 검사하며 ownership과 score 정의도 다릅니다. 따라서 model과 RTL이 알고리즘적으로 동일하다고 해석하면 안 됩니다.</a:t>
            </a:r>
          </a:p>
          <a:p/>
          <a:p>
            <a:r>
              <a:t>정책을 비교하려면 실제 모델 작업을 동일한 TileJob ledger로 만들어야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기억할 문장: Gemma replay와 조건 분석용 치우침 스트레스는 서로 다른 작업 집합입니다.</a:t>
            </a:r>
          </a:p>
          <a:p/>
          <a:p>
            <a:r>
              <a:t>해시로 고정한 Gemma 3 1B ONNX graph에는 7,837개 node가 있습니다. 여기서 attention의 q·k·v·o, MLP의 gate·up·down, lm_head를 필터링하면 token당 183개 projection이 됩니다.</a:t>
            </a:r>
          </a:p>
          <a:p/>
          <a:p>
            <a:r>
              <a:t>Decode-32 조건에서는 183 곱하기 32, 즉 5,856개의 coarse TileJob ledger를 만듭니다. 이 Gemma replay에서 S3의 p95와 p99는 S1보다 각각 15.07%, 14.61% 낮았습니다.</a:t>
            </a:r>
          </a:p>
          <a:p/>
          <a:p>
            <a:r>
              <a:t>다음 세 슬라이드는 이 한 개 replay를 반복하지 않습니다. 정책이 유효한 조건을 보기 위해 별도로 생성한 1,000-job 치우침 스트레스와 5개 seed를 사용합니다. 모든 비교에서 input, dispatch, completion ID가 같고 중복과 누락이 0인지 확인했습니다.</a:t>
            </a:r>
          </a:p>
          <a:p/>
          <a:p>
            <a:r>
              <a:t>다음 슬라이드는 전체 2,000개 event를 축소한 그림이 아니라, 실제 차이가 시작되는 동일 시간 구간을 확대합니다.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기억할 문장: 제어된 치우침 스트레스에서 S3는 S1의 유휴 클러스터를 실제 steal 작업으로 채웁니다.</a:t>
            </a:r>
          </a:p>
          <a:p/>
          <a:p>
            <a:r>
              <a:t>여기부터는 Gemma replay와 별개의 synthetic scheduler 실험입니다. 각 workload는 1,000 job이고 seed 19, 23, 29, 31, 43을 사용합니다. full-overlap analytical model이며 물리 cycle이 아닙니다. 타임라인은 seed 23의 S1과 S3, 총 2,000개 event 중 동일한 41k에서 43k 구간을 확대했습니다.</a:t>
            </a:r>
          </a:p>
          <a:p/>
          <a:p>
            <a:r>
              <a:t>S1에서는 Cluster 0만 파란 로컬 작업을 처리하고 Cluster 1부터 3은 유휴입니다. S3에서는 J172, J162, J143이 각각 C0에서 C1, C2, C3으로 이동합니다. 회색선은 큐 대기, 어두운 색 구간은 링크·메모리 준비, 밝은 끝 구간은 compute입니다.</a:t>
            </a:r>
          </a:p>
          <a:p/>
          <a:p>
            <a:r>
              <a:t>전체 5개 seed 중앙값에서 skew p95는 S1 대비 18.12% 줄었습니다. 그 대가로 S3에는 약 1.45 MiB의 원격 가중치 이동이 생깁니다. 즉 유휴를 줄인 효과와 이동 비용을 함께 봐야 합니다.</a:t>
            </a:r>
          </a:p>
          <a:p/>
          <a:p>
            <a:r>
              <a:t>이제 p95뿐 아니라 p99도 같은 방향인지 확인하겠습니다.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기억할 문장: S3의 효과는 p95 한 점이 아니라 p99까지 같은 방향으로 나타납니다.</a:t>
            </a:r>
          </a:p>
          <a:p/>
          <a:p>
            <a:r>
              <a:t>Gemma replay와 별개의 1,000-job synthetic skew workload에서 5개 seed 중앙값을 보겠습니다. full-overlap analytical model이며 물리 timing이 아닙니다. p95는 S1의 285.3k cycle에서 S3의 233.6k cycle로 18.12% 감소했습니다. p99는 302.2k에서 247.3k cycle로 18.16% 감소했습니다.</a:t>
            </a:r>
          </a:p>
          <a:p/>
          <a:p>
            <a:r>
              <a:t>Mixed workload에서도 p95는 17.59% 줄고 p99도 감소합니다. 반면 balanced와 channel-hotspot에서는 stealing할 불균형이 없거나 memory channel 자체가 병목이어서 S3의 이득이 나타나지 않습니다.</a:t>
            </a:r>
          </a:p>
          <a:p/>
          <a:p>
            <a:r>
              <a:t>따라서 결론은 S3가 항상 빠르다는 것이 아닙니다. 정적 ownership 때문에 queue skew가 Tail을 지배하는 조건에서 효과가 있다는 것입니다.</a:t>
            </a:r>
          </a:p>
          <a:p/>
          <a:p>
            <a:r>
              <a:t>그렇다면 줄어든 queue wait의 비용이 어디로 이동하는지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기억할 문장: Tail 감소는 공짜가 아니라 원격 이동과 resource pressure로 지불합니다.</a:t>
            </a:r>
          </a:p>
          <a:p/>
          <a:p>
            <a:r>
              <a:t>이 수치도 Gemma replay가 아니라 같은 synthetic skew, 5-seed 중앙값, full-overlap analytical model에서 나옵니다. 왼쪽은 S3와 S1의 비교로 p95가 18.12% 감소합니다. 실제 평균 queue wait 감소율은 17.86%이므로 p95와 같은 지표로 해석하면 안 됩니다. 가운데는 S3와 S2의 비교로 remote weight가 37.84% 줄어듭니다.</a:t>
            </a:r>
          </a:p>
          <a:p/>
          <a:p>
            <a:r>
              <a:t>오른쪽도 S3와 S2의 비교입니다. 더 보수적인 선택 때문에 마지막 completion은 0.98% 길어집니다. 즉 세 수치는 비교 기준이 서로 다릅니다. S1은 정적 baseline이고, S2는 locality를 고려하지 않는 stealing baseline입니다.</a:t>
            </a:r>
          </a:p>
          <a:p/>
          <a:p>
            <a:r>
              <a:t>이 결과는 queue wait가 줄어든 대신 link와 memory service가 더 중요해졌음을 보여줍니다. 다음 단계는 이 비용을 실제 보드 인터페이스에서 계측하는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기억할 문장: 물리 reference는 실제 KiCad 객체지만 아직 제작 가능한 보드는 아닙니다.</a:t>
            </a:r>
          </a:p>
          <a:p/>
          <a:p>
            <a:r>
              <a:t>가운데 큰 이미지는 native KiCad source에서 렌더한 validation coupon입니다. 오른쪽 확대는 K26–Memory FPGA 연결 경계, 기준 클록 차동 경로, 대표 routed coupon 영역을 실제 render에서 잘라 보여줍니다.</a:t>
            </a:r>
          </a:p>
          <a:p/>
          <a:p>
            <a:r>
              <a:t>현재 coupon에는 29 footprints, 20개의 routed GTH/refclock nets가 있고 선언한 제한 범위에서 ERC와 routed-subset DRC가 0입니다. 그러나 전체 보드에는 55 unrouted nets가 남아 있고, MIG pin placement, SI/PI, PDN, thermal과 timing closure는 수행하지 않았습니다.</a:t>
            </a:r>
          </a:p>
          <a:p/>
          <a:p>
            <a:r>
              <a:t>따라서 이 이미지는 알고리즘을 어떤 인터페이스로 내려갈지 구체화한 reference coupon입니다. 제작 가능성을 주장하지 않고, 다음 검증의 대상과 범위를 명확히 한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기억할 문장: 이 연구의 기여는 Work Stealing의 승리가 아니라 유효 조건과 비용을 함께 밝힌 것입니다.</a:t>
            </a:r>
          </a:p>
          <a:p/>
          <a:p>
            <a:r>
              <a:t>실제 Gemma graph에서 TileJob 변환을 정의했고, 별도의 제어된 스트레스에서 Tail과 이동 비용 조건을 분석했으며, 그 구조를 K26–Memory FPGA RTL과 KiCad 참조 설계까지 연결했습니다.</a:t>
            </a:r>
          </a:p>
          <a:p/>
          <a:p>
            <a:r>
              <a:t>다음 단계는 DDR 응답부터 MatVec까지 폐루프를 완성하고 실제 대역폭·Tail·보드 전력을 측정하는 것입니다.</a:t>
            </a:r>
          </a:p>
          <a:p/>
          <a:p>
            <a:r>
              <a:t>정적 큐의 유휴를 줄이면 Tail은 짧아지지만 링크·메모리 비용이 생깁니다. 이 연구는 그 재배치가 유효한 조건을 함께 제시합니다.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00_cover_background_1920x1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11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8800" y="1555750"/>
            <a:ext cx="444500" cy="50800"/>
          </a:xfrm>
          <a:prstGeom prst="rect">
            <a:avLst/>
          </a:prstGeom>
          <a:solidFill>
            <a:srgbClr val="36D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8800" y="1790700"/>
            <a:ext cx="6223000" cy="146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4F7FB"/>
                </a:solidFill>
                <a:latin typeface="NanumSquare"/>
              </a:rPr>
              <a:t>Work Stealing으로 줄이는
Tail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441700"/>
            <a:ext cx="5715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C8D5E3"/>
                </a:solidFill>
                <a:latin typeface="NanumSquare"/>
              </a:rPr>
              <a:t>Gemma 3 1B 기반 K26–Memory FPGA 가속기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3962399"/>
            <a:ext cx="55245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91A5BA"/>
                </a:solidFill>
                <a:latin typeface="NanumSquare"/>
              </a:rPr>
              <a:t>정적 큐의 지역성을 유지하면서, 치우친 작업은 유휴 클러스터로 재배치한다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5969000"/>
            <a:ext cx="4826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298AE"/>
                </a:solidFill>
                <a:latin typeface="NanumSquare"/>
              </a:rPr>
              <a:t>최윤혁 · 한국디지털미디어고등학교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342900"/>
            <a:ext cx="342900" cy="44450"/>
          </a:xfrm>
          <a:prstGeom prst="rect">
            <a:avLst/>
          </a:prstGeom>
          <a:solidFill>
            <a:srgbClr val="36D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482600"/>
            <a:ext cx="11049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4F7FB"/>
                </a:solidFill>
                <a:latin typeface="NanumSquare"/>
              </a:rPr>
              <a:t>왜 정적 큐가 Tail을 만드는가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990599"/>
            <a:ext cx="10668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1A5BA"/>
                </a:solidFill>
                <a:latin typeface="NanumSquare"/>
              </a:rPr>
              <a:t>지역성은 유지되지만 작업이 치우치면 일부 클러스터가 놀고 p95가 길어진다.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38300"/>
            <a:ext cx="4000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6D7E7"/>
                </a:solidFill>
                <a:latin typeface="NanumSquare"/>
              </a:rPr>
              <a:t>S1 정적 로컬 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2235200"/>
            <a:ext cx="1079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4F7FB"/>
                </a:solidFill>
                <a:latin typeface="NanumSquare"/>
              </a:rPr>
              <a:t>클러스터 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78000" y="2400300"/>
            <a:ext cx="3238500" cy="0"/>
          </a:xfrm>
          <a:prstGeom prst="line">
            <a:avLst/>
          </a:prstGeom>
          <a:ln w="25400">
            <a:solidFill>
              <a:srgbClr val="203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854200" y="2266950"/>
            <a:ext cx="254000" cy="266700"/>
          </a:xfrm>
          <a:prstGeom prst="round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71700" y="2266950"/>
            <a:ext cx="254000" cy="266700"/>
          </a:xfrm>
          <a:prstGeom prst="round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89200" y="2266950"/>
            <a:ext cx="254000" cy="266700"/>
          </a:xfrm>
          <a:prstGeom prst="round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06700" y="2266950"/>
            <a:ext cx="254000" cy="266700"/>
          </a:xfrm>
          <a:prstGeom prst="round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24200" y="2266950"/>
            <a:ext cx="254000" cy="266700"/>
          </a:xfrm>
          <a:prstGeom prst="round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41700" y="2266950"/>
            <a:ext cx="254000" cy="266700"/>
          </a:xfrm>
          <a:prstGeom prst="round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59199" y="2266950"/>
            <a:ext cx="254000" cy="266700"/>
          </a:xfrm>
          <a:prstGeom prst="round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76699" y="2266950"/>
            <a:ext cx="254000" cy="266700"/>
          </a:xfrm>
          <a:prstGeom prst="round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94200" y="2266950"/>
            <a:ext cx="254000" cy="266700"/>
          </a:xfrm>
          <a:prstGeom prst="round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2933700"/>
            <a:ext cx="1079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4F7FB"/>
                </a:solidFill>
                <a:latin typeface="NanumSquare"/>
              </a:rPr>
              <a:t>클러스터 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778000" y="3098800"/>
            <a:ext cx="3238500" cy="0"/>
          </a:xfrm>
          <a:prstGeom prst="line">
            <a:avLst/>
          </a:prstGeom>
          <a:ln w="25400">
            <a:solidFill>
              <a:srgbClr val="203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854200" y="2965450"/>
            <a:ext cx="254000" cy="266700"/>
          </a:xfrm>
          <a:prstGeom prst="roundRect">
            <a:avLst/>
          </a:prstGeom>
          <a:solidFill>
            <a:srgbClr val="5E7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71700" y="2965450"/>
            <a:ext cx="254000" cy="266700"/>
          </a:xfrm>
          <a:prstGeom prst="roundRect">
            <a:avLst/>
          </a:prstGeom>
          <a:solidFill>
            <a:srgbClr val="5E7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27500" y="2959100"/>
            <a:ext cx="76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1B44C"/>
                </a:solidFill>
                <a:latin typeface="NanumSquare"/>
              </a:rPr>
              <a:t>유휴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" y="3632200"/>
            <a:ext cx="1079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4F7FB"/>
                </a:solidFill>
                <a:latin typeface="NanumSquare"/>
              </a:rPr>
              <a:t>클러스터 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778000" y="3797300"/>
            <a:ext cx="3238500" cy="0"/>
          </a:xfrm>
          <a:prstGeom prst="line">
            <a:avLst/>
          </a:prstGeom>
          <a:ln w="25400">
            <a:solidFill>
              <a:srgbClr val="203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854200" y="3663950"/>
            <a:ext cx="254000" cy="266700"/>
          </a:xfrm>
          <a:prstGeom prst="roundRect">
            <a:avLst/>
          </a:prstGeom>
          <a:solidFill>
            <a:srgbClr val="5E7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27500" y="3657600"/>
            <a:ext cx="76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1B44C"/>
                </a:solidFill>
                <a:latin typeface="NanumSquare"/>
              </a:rPr>
              <a:t>유휴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4330700"/>
            <a:ext cx="1079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4F7FB"/>
                </a:solidFill>
                <a:latin typeface="NanumSquare"/>
              </a:rPr>
              <a:t>클러스터 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78000" y="4495800"/>
            <a:ext cx="3238500" cy="0"/>
          </a:xfrm>
          <a:prstGeom prst="line">
            <a:avLst/>
          </a:prstGeom>
          <a:ln w="25400">
            <a:solidFill>
              <a:srgbClr val="203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854200" y="4362450"/>
            <a:ext cx="254000" cy="266700"/>
          </a:xfrm>
          <a:prstGeom prst="roundRect">
            <a:avLst/>
          </a:prstGeom>
          <a:solidFill>
            <a:srgbClr val="5E7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27500" y="4356100"/>
            <a:ext cx="76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1B44C"/>
                </a:solidFill>
                <a:latin typeface="NanumSquare"/>
              </a:rPr>
              <a:t>유휴</a:t>
            </a:r>
          </a:p>
        </p:txBody>
      </p:sp>
      <p:sp>
        <p:nvSpPr>
          <p:cNvPr id="30" name="Chevron 29"/>
          <p:cNvSpPr/>
          <p:nvPr/>
        </p:nvSpPr>
        <p:spPr>
          <a:xfrm>
            <a:off x="5334000" y="3098800"/>
            <a:ext cx="762000" cy="546100"/>
          </a:xfrm>
          <a:prstGeom prst="chevron">
            <a:avLst/>
          </a:prstGeom>
          <a:solidFill>
            <a:srgbClr val="36D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68900" y="2667000"/>
            <a:ext cx="11176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1A5BA"/>
                </a:solidFill>
                <a:latin typeface="NanumSquare"/>
              </a:rPr>
              <a:t>지역성 유지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99050" y="3746500"/>
            <a:ext cx="12573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1B44C"/>
                </a:solidFill>
                <a:latin typeface="NanumSquare"/>
              </a:rPr>
              <a:t>부하 균형 실패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21500" y="1765300"/>
            <a:ext cx="4064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4F7FB"/>
                </a:solidFill>
                <a:latin typeface="NanumSquare"/>
              </a:rPr>
              <a:t>느린 5%가 길어진다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6985000" y="4508500"/>
            <a:ext cx="571500" cy="63500"/>
          </a:xfrm>
          <a:prstGeom prst="line">
            <a:avLst/>
          </a:prstGeom>
          <a:ln w="50800">
            <a:solidFill>
              <a:srgbClr val="4C8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556500" y="4381500"/>
            <a:ext cx="571500" cy="127000"/>
          </a:xfrm>
          <a:prstGeom prst="line">
            <a:avLst/>
          </a:prstGeom>
          <a:ln w="50800">
            <a:solidFill>
              <a:srgbClr val="4C8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128000" y="4127500"/>
            <a:ext cx="571500" cy="254000"/>
          </a:xfrm>
          <a:prstGeom prst="line">
            <a:avLst/>
          </a:prstGeom>
          <a:ln w="50800">
            <a:solidFill>
              <a:srgbClr val="4C8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699500" y="3746500"/>
            <a:ext cx="571500" cy="381000"/>
          </a:xfrm>
          <a:prstGeom prst="line">
            <a:avLst/>
          </a:prstGeom>
          <a:ln w="50800">
            <a:solidFill>
              <a:srgbClr val="4C8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9271000" y="3111500"/>
            <a:ext cx="571500" cy="635000"/>
          </a:xfrm>
          <a:prstGeom prst="line">
            <a:avLst/>
          </a:prstGeom>
          <a:ln w="50800">
            <a:solidFill>
              <a:srgbClr val="4C8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9842500" y="2222500"/>
            <a:ext cx="571500" cy="889000"/>
          </a:xfrm>
          <a:prstGeom prst="line">
            <a:avLst/>
          </a:prstGeom>
          <a:ln w="50800">
            <a:solidFill>
              <a:srgbClr val="4C8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414000" y="1714500"/>
            <a:ext cx="698500" cy="508000"/>
          </a:xfrm>
          <a:prstGeom prst="line">
            <a:avLst/>
          </a:prstGeom>
          <a:ln w="50800">
            <a:solidFill>
              <a:srgbClr val="4C8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096500" y="2000250"/>
            <a:ext cx="0" cy="2825750"/>
          </a:xfrm>
          <a:prstGeom prst="line">
            <a:avLst/>
          </a:prstGeom>
          <a:ln w="25400">
            <a:solidFill>
              <a:srgbClr val="36D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677400" y="4667250"/>
            <a:ext cx="8382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6D7E7"/>
                </a:solidFill>
                <a:latin typeface="NanumSquare"/>
              </a:rPr>
              <a:t>p95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31000" y="5334000"/>
            <a:ext cx="4254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1B44C"/>
                </a:solidFill>
                <a:latin typeface="NanumSquare"/>
              </a:rPr>
              <a:t>지역성 유지 ≠ 부하 균형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342900"/>
            <a:ext cx="342900" cy="44450"/>
          </a:xfrm>
          <a:prstGeom prst="rect">
            <a:avLst/>
          </a:prstGeom>
          <a:solidFill>
            <a:srgbClr val="36D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482600"/>
            <a:ext cx="11049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4F7FB"/>
                </a:solidFill>
                <a:latin typeface="NanumSquare"/>
              </a:rPr>
              <a:t>K26 Compute × Memory FPGA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990599"/>
            <a:ext cx="10668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1A5BA"/>
                </a:solidFill>
                <a:latin typeface="NanumSquare"/>
              </a:rPr>
              <a:t>계산 소유권과 메모리 채널 친화도를 TileJob 단위로 분리한다.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500" y="1651000"/>
            <a:ext cx="387349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6D7E7"/>
                </a:solidFill>
                <a:latin typeface="NanumSquare"/>
              </a:rPr>
              <a:t>K26 연산 SoC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000" y="2095499"/>
            <a:ext cx="4381500" cy="3238500"/>
          </a:xfrm>
          <a:prstGeom prst="roundRect">
            <a:avLst/>
          </a:prstGeom>
          <a:solidFill>
            <a:srgbClr val="0B1627"/>
          </a:solidFill>
          <a:ln w="25400">
            <a:solidFill>
              <a:srgbClr val="28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20750" y="2444750"/>
            <a:ext cx="889000" cy="889000"/>
          </a:xfrm>
          <a:prstGeom prst="ellipse">
            <a:avLst/>
          </a:prstGeom>
          <a:solidFill>
            <a:srgbClr val="102238"/>
          </a:solidFill>
          <a:ln w="25400">
            <a:solidFill>
              <a:srgbClr val="36D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750" y="2667000"/>
            <a:ext cx="88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4F7FB"/>
                </a:solidFill>
                <a:latin typeface="NanumSquare"/>
              </a:rPr>
              <a:t>타일
스케줄러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5499" y="2476500"/>
            <a:ext cx="2349500" cy="457200"/>
          </a:xfrm>
          <a:prstGeom prst="roundRect">
            <a:avLst/>
          </a:prstGeom>
          <a:solidFill>
            <a:srgbClr val="102238"/>
          </a:solidFill>
          <a:ln w="25400">
            <a:solidFill>
              <a:srgbClr val="28B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7100" y="2571750"/>
            <a:ext cx="2146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8B6A6"/>
                </a:solidFill>
                <a:latin typeface="NanumSquare"/>
              </a:rPr>
              <a:t>페이로드 저장소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5500" y="3556000"/>
            <a:ext cx="1809750" cy="520700"/>
          </a:xfrm>
          <a:prstGeom prst="roundRect">
            <a:avLst/>
          </a:prstGeom>
          <a:solidFill>
            <a:srgbClr val="102238"/>
          </a:solidFill>
          <a:ln w="25400">
            <a:solidFill>
              <a:srgbClr val="4C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1700" y="3644900"/>
            <a:ext cx="165735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4F7FB"/>
                </a:solidFill>
                <a:latin typeface="NanumSquare"/>
              </a:rPr>
              <a:t>클러스터 0
MatVec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9250" y="3556000"/>
            <a:ext cx="1809750" cy="520700"/>
          </a:xfrm>
          <a:prstGeom prst="roundRect">
            <a:avLst/>
          </a:prstGeom>
          <a:solidFill>
            <a:srgbClr val="102238"/>
          </a:solidFill>
          <a:ln w="25400">
            <a:solidFill>
              <a:srgbClr val="4C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65450" y="3644900"/>
            <a:ext cx="165735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4F7FB"/>
                </a:solidFill>
                <a:latin typeface="NanumSquare"/>
              </a:rPr>
              <a:t>클러스터 1
MatVec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5500" y="4318000"/>
            <a:ext cx="1809750" cy="520700"/>
          </a:xfrm>
          <a:prstGeom prst="roundRect">
            <a:avLst/>
          </a:prstGeom>
          <a:solidFill>
            <a:srgbClr val="102238"/>
          </a:solidFill>
          <a:ln w="25400">
            <a:solidFill>
              <a:srgbClr val="4C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1700" y="4406900"/>
            <a:ext cx="165735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4F7FB"/>
                </a:solidFill>
                <a:latin typeface="NanumSquare"/>
              </a:rPr>
              <a:t>클러스터 2
MatVec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9250" y="4318000"/>
            <a:ext cx="1809750" cy="520700"/>
          </a:xfrm>
          <a:prstGeom prst="roundRect">
            <a:avLst/>
          </a:prstGeom>
          <a:solidFill>
            <a:srgbClr val="102238"/>
          </a:solidFill>
          <a:ln w="25400">
            <a:solidFill>
              <a:srgbClr val="4C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65450" y="4406900"/>
            <a:ext cx="165735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4F7FB"/>
                </a:solidFill>
                <a:latin typeface="NanumSquare"/>
              </a:rPr>
              <a:t>클러스터 3
MatVec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8250" y="2825750"/>
            <a:ext cx="1397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6D7E7"/>
                </a:solidFill>
                <a:latin typeface="NanumSquare"/>
              </a:rPr>
              <a:t>요청·제어 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8250" y="3397250"/>
            <a:ext cx="1397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B6A6"/>
                </a:solidFill>
                <a:latin typeface="NanumSquare"/>
              </a:rPr>
              <a:t>←  가중치 응답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8250" y="3905249"/>
            <a:ext cx="1397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7FB"/>
                </a:solidFill>
                <a:latin typeface="NanumSquare"/>
              </a:rPr>
              <a:t>4-bundle 링크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8250" y="428625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1B44C"/>
                </a:solidFill>
                <a:latin typeface="NanumSquare"/>
              </a:rPr>
              <a:t>응답 폐루프 미구현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4500" y="1651000"/>
            <a:ext cx="4127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8B6A6"/>
                </a:solidFill>
                <a:latin typeface="NanumSquare"/>
              </a:rPr>
              <a:t>Memory FPGA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500" y="2095499"/>
            <a:ext cx="4826000" cy="3238500"/>
          </a:xfrm>
          <a:prstGeom prst="roundRect">
            <a:avLst/>
          </a:prstGeom>
          <a:solidFill>
            <a:srgbClr val="0B1627"/>
          </a:solidFill>
          <a:ln w="25400">
            <a:solidFill>
              <a:srgbClr val="285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85000" y="2413000"/>
            <a:ext cx="4190999" cy="558800"/>
          </a:xfrm>
          <a:prstGeom prst="roundRect">
            <a:avLst/>
          </a:prstGeom>
          <a:solidFill>
            <a:srgbClr val="102238"/>
          </a:solidFill>
          <a:ln w="25400">
            <a:solidFill>
              <a:srgbClr val="28B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12000" y="2552700"/>
            <a:ext cx="3937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8B6A6"/>
                </a:solidFill>
                <a:latin typeface="NanumSquare"/>
              </a:rPr>
              <a:t>채널 친화도 + Bank 인식 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8500" y="3492500"/>
            <a:ext cx="838200" cy="1174750"/>
          </a:xfrm>
          <a:prstGeom prst="roundRect">
            <a:avLst/>
          </a:prstGeom>
          <a:solidFill>
            <a:srgbClr val="102238"/>
          </a:solidFill>
          <a:ln w="25400">
            <a:solidFill>
              <a:srgbClr val="4C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99300" y="3797300"/>
            <a:ext cx="7366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4F7FB"/>
                </a:solidFill>
                <a:latin typeface="NanumSquare"/>
              </a:rPr>
              <a:t>DDR3L
CH 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4500" y="3492500"/>
            <a:ext cx="838200" cy="1174750"/>
          </a:xfrm>
          <a:prstGeom prst="roundRect">
            <a:avLst/>
          </a:prstGeom>
          <a:solidFill>
            <a:srgbClr val="102238"/>
          </a:solidFill>
          <a:ln w="25400">
            <a:solidFill>
              <a:srgbClr val="28B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5300" y="3797300"/>
            <a:ext cx="7366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4F7FB"/>
                </a:solidFill>
                <a:latin typeface="NanumSquare"/>
              </a:rPr>
              <a:t>DDR3L
CH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80500" y="3492500"/>
            <a:ext cx="838200" cy="1174750"/>
          </a:xfrm>
          <a:prstGeom prst="roundRect">
            <a:avLst/>
          </a:prstGeom>
          <a:solidFill>
            <a:srgbClr val="102238"/>
          </a:solidFill>
          <a:ln w="25400">
            <a:solidFill>
              <a:srgbClr val="4C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31300" y="3797300"/>
            <a:ext cx="7366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4F7FB"/>
                </a:solidFill>
                <a:latin typeface="NanumSquare"/>
              </a:rPr>
              <a:t>DDR3L
CH 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96500" y="3492500"/>
            <a:ext cx="838200" cy="1174750"/>
          </a:xfrm>
          <a:prstGeom prst="roundRect">
            <a:avLst/>
          </a:prstGeom>
          <a:solidFill>
            <a:srgbClr val="102238"/>
          </a:solidFill>
          <a:ln w="25400">
            <a:solidFill>
              <a:srgbClr val="28B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7300" y="3797300"/>
            <a:ext cx="7366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4F7FB"/>
                </a:solidFill>
                <a:latin typeface="NanumSquare"/>
              </a:rPr>
              <a:t>DDR3L
CH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30500" y="5727700"/>
            <a:ext cx="6731000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4F7FB"/>
                </a:solidFill>
                <a:latin typeface="NanumSquare"/>
              </a:rPr>
              <a:t>TileJob = 계산 소유권 + 데이터 친화도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342900"/>
            <a:ext cx="342900" cy="44450"/>
          </a:xfrm>
          <a:prstGeom prst="rect">
            <a:avLst/>
          </a:prstGeom>
          <a:solidFill>
            <a:srgbClr val="36D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482600"/>
            <a:ext cx="11049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4F7FB"/>
                </a:solidFill>
                <a:latin typeface="NanumSquare"/>
              </a:rPr>
              <a:t>유휴 클러스터가 일을 훔치는 5단계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990599"/>
            <a:ext cx="10668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1A5BA"/>
                </a:solidFill>
                <a:latin typeface="NanumSquare"/>
              </a:rPr>
              <a:t>S3는 오래된 작업 중 이동 비용을 감수할 가치가 있는 타일만 선택한다.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587500"/>
            <a:ext cx="4699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6D7E7"/>
                </a:solidFill>
                <a:latin typeface="NanumSquare"/>
              </a:rPr>
              <a:t>S3 지역성 인식 Work Stealing</a:t>
            </a:r>
          </a:p>
        </p:txBody>
      </p:sp>
      <p:sp>
        <p:nvSpPr>
          <p:cNvPr id="6" name="Oval 5"/>
          <p:cNvSpPr/>
          <p:nvPr/>
        </p:nvSpPr>
        <p:spPr>
          <a:xfrm>
            <a:off x="857250" y="3048000"/>
            <a:ext cx="711200" cy="711200"/>
          </a:xfrm>
          <a:prstGeom prst="ellipse">
            <a:avLst/>
          </a:prstGeom>
          <a:solidFill>
            <a:srgbClr val="102238"/>
          </a:solidFill>
          <a:ln w="38100">
            <a:solidFill>
              <a:srgbClr val="4C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3162300"/>
            <a:ext cx="7112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4C8DFF"/>
                </a:solidFill>
                <a:latin typeface="NanumSquar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2750" y="3968750"/>
            <a:ext cx="16002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4F7FB"/>
                </a:solidFill>
                <a:latin typeface="NanumSquare"/>
              </a:rPr>
              <a:t>큐 불균형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50" y="4286250"/>
            <a:ext cx="18542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91A5BA"/>
                </a:solidFill>
                <a:latin typeface="NanumSquare"/>
              </a:rPr>
              <a:t>한쪽 큐만 증가</a:t>
            </a:r>
          </a:p>
        </p:txBody>
      </p:sp>
      <p:sp>
        <p:nvSpPr>
          <p:cNvPr id="10" name="Chevron 9"/>
          <p:cNvSpPr/>
          <p:nvPr/>
        </p:nvSpPr>
        <p:spPr>
          <a:xfrm>
            <a:off x="1809750" y="3270250"/>
            <a:ext cx="793750" cy="292100"/>
          </a:xfrm>
          <a:prstGeom prst="chevron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79750" y="3048000"/>
            <a:ext cx="711200" cy="711200"/>
          </a:xfrm>
          <a:prstGeom prst="ellipse">
            <a:avLst/>
          </a:prstGeom>
          <a:solidFill>
            <a:srgbClr val="102238"/>
          </a:solidFill>
          <a:ln w="38100">
            <a:solidFill>
              <a:srgbClr val="4C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79750" y="3162300"/>
            <a:ext cx="7112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4C8DFF"/>
                </a:solidFill>
                <a:latin typeface="NanumSquar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5250" y="3968750"/>
            <a:ext cx="16002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4F7FB"/>
                </a:solidFill>
                <a:latin typeface="NanumSquare"/>
              </a:rPr>
              <a:t>피해 큐 탐색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8250" y="4286250"/>
            <a:ext cx="18542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91A5BA"/>
                </a:solidFill>
                <a:latin typeface="NanumSquare"/>
              </a:rPr>
              <a:t>실행 가능한 작업 검색</a:t>
            </a:r>
          </a:p>
        </p:txBody>
      </p:sp>
      <p:sp>
        <p:nvSpPr>
          <p:cNvPr id="15" name="Chevron 14"/>
          <p:cNvSpPr/>
          <p:nvPr/>
        </p:nvSpPr>
        <p:spPr>
          <a:xfrm>
            <a:off x="4032250" y="3270250"/>
            <a:ext cx="793750" cy="292100"/>
          </a:xfrm>
          <a:prstGeom prst="chevron">
            <a:avLst/>
          </a:prstGeom>
          <a:solidFill>
            <a:srgbClr val="28B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02250" y="3048000"/>
            <a:ext cx="711200" cy="711200"/>
          </a:xfrm>
          <a:prstGeom prst="ellipse">
            <a:avLst/>
          </a:prstGeom>
          <a:solidFill>
            <a:srgbClr val="102238"/>
          </a:solidFill>
          <a:ln w="38100">
            <a:solidFill>
              <a:srgbClr val="36D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2250" y="3162300"/>
            <a:ext cx="7112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6D7E7"/>
                </a:solidFill>
                <a:latin typeface="NanumSquare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7750" y="3968750"/>
            <a:ext cx="16002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4F7FB"/>
                </a:solidFill>
                <a:latin typeface="NanumSquare"/>
              </a:rPr>
              <a:t>지역성 점수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0750" y="4286250"/>
            <a:ext cx="18542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91A5BA"/>
                </a:solidFill>
                <a:latin typeface="NanumSquare"/>
              </a:rPr>
              <a:t>대기 시간 - 이동 비용</a:t>
            </a:r>
          </a:p>
        </p:txBody>
      </p:sp>
      <p:sp>
        <p:nvSpPr>
          <p:cNvPr id="20" name="Chevron 19"/>
          <p:cNvSpPr/>
          <p:nvPr/>
        </p:nvSpPr>
        <p:spPr>
          <a:xfrm>
            <a:off x="6254750" y="3270250"/>
            <a:ext cx="793750" cy="292100"/>
          </a:xfrm>
          <a:prstGeom prst="chevron">
            <a:avLst/>
          </a:prstGeom>
          <a:solidFill>
            <a:srgbClr val="28B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24749" y="3048000"/>
            <a:ext cx="711200" cy="711200"/>
          </a:xfrm>
          <a:prstGeom prst="ellipse">
            <a:avLst/>
          </a:prstGeom>
          <a:solidFill>
            <a:srgbClr val="102238"/>
          </a:solidFill>
          <a:ln w="38100">
            <a:solidFill>
              <a:srgbClr val="36D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24749" y="3162300"/>
            <a:ext cx="7112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6D7E7"/>
                </a:solidFill>
                <a:latin typeface="NanumSquare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0250" y="3968750"/>
            <a:ext cx="16002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4F7FB"/>
                </a:solidFill>
                <a:latin typeface="NanumSquare"/>
              </a:rPr>
              <a:t>타일 이동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3250" y="4286250"/>
            <a:ext cx="18542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91A5BA"/>
                </a:solidFill>
                <a:latin typeface="NanumSquare"/>
              </a:rPr>
              <a:t>유휴 클러스터에 재배치</a:t>
            </a:r>
          </a:p>
        </p:txBody>
      </p:sp>
      <p:sp>
        <p:nvSpPr>
          <p:cNvPr id="25" name="Chevron 24"/>
          <p:cNvSpPr/>
          <p:nvPr/>
        </p:nvSpPr>
        <p:spPr>
          <a:xfrm>
            <a:off x="8477250" y="3270250"/>
            <a:ext cx="793750" cy="292100"/>
          </a:xfrm>
          <a:prstGeom prst="chevron">
            <a:avLst/>
          </a:prstGeom>
          <a:solidFill>
            <a:srgbClr val="28B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47250" y="3048000"/>
            <a:ext cx="711200" cy="711200"/>
          </a:xfrm>
          <a:prstGeom prst="ellipse">
            <a:avLst/>
          </a:prstGeom>
          <a:solidFill>
            <a:srgbClr val="102238"/>
          </a:solidFill>
          <a:ln w="38100">
            <a:solidFill>
              <a:srgbClr val="4C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47250" y="3162300"/>
            <a:ext cx="7112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4C8DFF"/>
                </a:solidFill>
                <a:latin typeface="NanumSquare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2750" y="3968750"/>
            <a:ext cx="16002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4F7FB"/>
                </a:solidFill>
                <a:latin typeface="NanumSquare"/>
              </a:rPr>
              <a:t>완료 확인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5750" y="4286250"/>
            <a:ext cx="18542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91A5BA"/>
                </a:solidFill>
                <a:latin typeface="NanumSquare"/>
              </a:rPr>
              <a:t>정확히 한 번 완료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5500" y="5207000"/>
            <a:ext cx="2540000" cy="444500"/>
          </a:xfrm>
          <a:prstGeom prst="roundRect">
            <a:avLst/>
          </a:prstGeom>
          <a:solidFill>
            <a:srgbClr val="0B1627"/>
          </a:solidFill>
          <a:ln w="25400">
            <a:solidFill>
              <a:srgbClr val="4C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2500" y="5314950"/>
            <a:ext cx="2286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C8DFF"/>
                </a:solidFill>
                <a:latin typeface="NanumSquare"/>
              </a:rPr>
              <a:t>과부하 큐 · J0  J1  J2  J3</a:t>
            </a:r>
          </a:p>
        </p:txBody>
      </p:sp>
      <p:sp>
        <p:nvSpPr>
          <p:cNvPr id="32" name="Chevron 31"/>
          <p:cNvSpPr/>
          <p:nvPr/>
        </p:nvSpPr>
        <p:spPr>
          <a:xfrm>
            <a:off x="3683000" y="5257800"/>
            <a:ext cx="1397000" cy="342900"/>
          </a:xfrm>
          <a:prstGeom prst="chevron">
            <a:avLst/>
          </a:prstGeom>
          <a:solidFill>
            <a:srgbClr val="36D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397500" y="5207000"/>
            <a:ext cx="2349500" cy="444500"/>
          </a:xfrm>
          <a:prstGeom prst="roundRect">
            <a:avLst/>
          </a:prstGeom>
          <a:solidFill>
            <a:srgbClr val="0B1627"/>
          </a:solidFill>
          <a:ln w="25400">
            <a:solidFill>
              <a:srgbClr val="28B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24500" y="5314950"/>
            <a:ext cx="2095499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8B6A6"/>
                </a:solidFill>
                <a:latin typeface="NanumSquare"/>
              </a:rPr>
              <a:t>유휴 클러스터 ← J2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28000" y="5181600"/>
            <a:ext cx="32385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91A5BA"/>
                </a:solidFill>
                <a:latin typeface="NanumSquare"/>
              </a:rPr>
              <a:t>S2: 가장 오래된 작업
S3: 이동 비용까지 고려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342900"/>
            <a:ext cx="342900" cy="44450"/>
          </a:xfrm>
          <a:prstGeom prst="rect">
            <a:avLst/>
          </a:prstGeom>
          <a:solidFill>
            <a:srgbClr val="36D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482600"/>
            <a:ext cx="11049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4F7FB"/>
                </a:solidFill>
                <a:latin typeface="NanumSquare"/>
              </a:rPr>
              <a:t>실제 Gemma 작업을 TileJob으로 바꾼다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990599"/>
            <a:ext cx="10668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1A5BA"/>
                </a:solidFill>
                <a:latin typeface="NanumSquare"/>
              </a:rPr>
              <a:t>실제 graph에서 5,856개 작업을 만들고, 조건 분석용 스트레스 작업과 분리한다.</a:t>
            </a:r>
          </a:p>
        </p:txBody>
      </p:sp>
      <p:sp>
        <p:nvSpPr>
          <p:cNvPr id="5" name="Oval 4"/>
          <p:cNvSpPr/>
          <p:nvPr/>
        </p:nvSpPr>
        <p:spPr>
          <a:xfrm>
            <a:off x="1460500" y="2381250"/>
            <a:ext cx="1651000" cy="1651000"/>
          </a:xfrm>
          <a:prstGeom prst="ellipse">
            <a:avLst/>
          </a:prstGeom>
          <a:solidFill>
            <a:srgbClr val="0B1627"/>
          </a:solidFill>
          <a:ln w="38100">
            <a:solidFill>
              <a:srgbClr val="4C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5750" y="2781300"/>
            <a:ext cx="1460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4C8DFF"/>
                </a:solidFill>
                <a:latin typeface="NanumSquare"/>
              </a:rPr>
              <a:t>7,837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6500" y="4159249"/>
            <a:ext cx="2159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4F7FB"/>
                </a:solidFill>
                <a:latin typeface="NanumSquare"/>
              </a:rPr>
              <a:t>ONNX 그래프 노드</a:t>
            </a:r>
          </a:p>
        </p:txBody>
      </p:sp>
      <p:sp>
        <p:nvSpPr>
          <p:cNvPr id="8" name="Chevron 7"/>
          <p:cNvSpPr/>
          <p:nvPr/>
        </p:nvSpPr>
        <p:spPr>
          <a:xfrm>
            <a:off x="3619500" y="3016250"/>
            <a:ext cx="762000" cy="393700"/>
          </a:xfrm>
          <a:prstGeom prst="chevron">
            <a:avLst/>
          </a:prstGeom>
          <a:solidFill>
            <a:srgbClr val="91A5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80000" y="2381250"/>
            <a:ext cx="1651000" cy="1651000"/>
          </a:xfrm>
          <a:prstGeom prst="ellipse">
            <a:avLst/>
          </a:prstGeom>
          <a:solidFill>
            <a:srgbClr val="0B1627"/>
          </a:solidFill>
          <a:ln w="38100">
            <a:solidFill>
              <a:srgbClr val="28B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5250" y="2781300"/>
            <a:ext cx="1460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28B6A6"/>
                </a:solidFill>
                <a:latin typeface="NanumSquare"/>
              </a:rPr>
              <a:t>183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0" y="4159249"/>
            <a:ext cx="2159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4F7FB"/>
                </a:solidFill>
                <a:latin typeface="NanumSquare"/>
              </a:rPr>
              <a:t>프로젝션 / 토큰</a:t>
            </a:r>
          </a:p>
        </p:txBody>
      </p:sp>
      <p:sp>
        <p:nvSpPr>
          <p:cNvPr id="12" name="Chevron 11"/>
          <p:cNvSpPr/>
          <p:nvPr/>
        </p:nvSpPr>
        <p:spPr>
          <a:xfrm>
            <a:off x="7239000" y="3016250"/>
            <a:ext cx="762000" cy="393700"/>
          </a:xfrm>
          <a:prstGeom prst="chevron">
            <a:avLst/>
          </a:prstGeom>
          <a:solidFill>
            <a:srgbClr val="91A5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99500" y="2381250"/>
            <a:ext cx="1651000" cy="1651000"/>
          </a:xfrm>
          <a:prstGeom prst="ellipse">
            <a:avLst/>
          </a:prstGeom>
          <a:solidFill>
            <a:srgbClr val="0B1627"/>
          </a:solidFill>
          <a:ln w="38100">
            <a:solidFill>
              <a:srgbClr val="36D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94750" y="2781300"/>
            <a:ext cx="1460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36D7E7"/>
                </a:solidFill>
                <a:latin typeface="NanumSquare"/>
              </a:rPr>
              <a:t>5,856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5500" y="4159249"/>
            <a:ext cx="2159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4F7FB"/>
                </a:solidFill>
                <a:latin typeface="NanumSquare"/>
              </a:rPr>
              <a:t>TileJob · 디코드 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750" y="4953000"/>
            <a:ext cx="17145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1A5BA"/>
                </a:solidFill>
                <a:latin typeface="NanumSquare"/>
              </a:rPr>
              <a:t>실제 그래프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8250" y="4953000"/>
            <a:ext cx="17145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1A5BA"/>
                </a:solidFill>
                <a:latin typeface="NanumSquare"/>
              </a:rPr>
              <a:t>프로젝션 필터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0750" y="4813300"/>
            <a:ext cx="2286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91A5BA"/>
                </a:solidFill>
                <a:latin typeface="NanumSquare"/>
              </a:rPr>
              <a:t>Gemma replay
5,856개 작업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05000" y="5397500"/>
            <a:ext cx="8382000" cy="0"/>
          </a:xfrm>
          <a:prstGeom prst="line">
            <a:avLst/>
          </a:prstGeom>
          <a:ln w="25400">
            <a:solidFill>
              <a:srgbClr val="203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651000" y="5619750"/>
            <a:ext cx="8890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36D7E7"/>
                </a:solidFill>
                <a:latin typeface="NanumSquare"/>
              </a:rPr>
              <a:t>Gemma replay  ≠  조건 분석용 합성 스트레스  ·  다음 결과는 별도 작업 집합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342900"/>
            <a:ext cx="342900" cy="44450"/>
          </a:xfrm>
          <a:prstGeom prst="rect">
            <a:avLst/>
          </a:prstGeom>
          <a:solidFill>
            <a:srgbClr val="36D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482600"/>
            <a:ext cx="11049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4F7FB"/>
                </a:solidFill>
                <a:latin typeface="NanumSquare"/>
              </a:rPr>
              <a:t>놀고 있던 연산 클러스터가 Tail을 줄인다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990599"/>
            <a:ext cx="10668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1A5BA"/>
                </a:solidFill>
                <a:latin typeface="NanumSquare"/>
              </a:rPr>
              <a:t>정적 할당에서는 작업이 Cluster 0에 몰리지만, Work Stealing은 유휴 클러스터에 타일을 재배치한다.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84500" y="1511300"/>
            <a:ext cx="6223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1B44C"/>
                </a:solidFill>
                <a:latin typeface="NanumSquare"/>
              </a:rPr>
              <a:t>실험 B · 제어된 치우침 스트레스 · 1,000개 작업 · 분석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84500" y="1689100"/>
            <a:ext cx="6223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1A5BA"/>
                </a:solidFill>
                <a:latin typeface="NanumSquare"/>
              </a:rPr>
              <a:t>회색선 큐 대기  ·  어두운 색 데이터 준비  ·  밝은 끝 연산  ·  청록 훔친 작업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905000"/>
            <a:ext cx="5207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C8DFF"/>
                </a:solidFill>
                <a:latin typeface="NanumSquare"/>
              </a:rPr>
              <a:t>S1 정적 로컬 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159000"/>
            <a:ext cx="5207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1A5BA"/>
                </a:solidFill>
                <a:latin typeface="NanumSquare"/>
              </a:rPr>
              <a:t>동일 2k cycle 구간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584450"/>
            <a:ext cx="3429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4F7FB"/>
                </a:solidFill>
                <a:latin typeface="NanumSquare"/>
              </a:rPr>
              <a:t>C0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5200" y="2508250"/>
            <a:ext cx="4813300" cy="368300"/>
          </a:xfrm>
          <a:prstGeom prst="round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65200" y="2832100"/>
            <a:ext cx="666642" cy="0"/>
          </a:xfrm>
          <a:prstGeom prst="line">
            <a:avLst/>
          </a:prstGeom>
          <a:ln w="50800">
            <a:solidFill>
              <a:srgbClr val="5E71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631842" y="2559050"/>
            <a:ext cx="356184" cy="266700"/>
          </a:xfrm>
          <a:prstGeom prst="roundRect">
            <a:avLst/>
          </a:prstGeom>
          <a:solidFill>
            <a:srgbClr val="234F96"/>
          </a:solidFill>
          <a:ln w="25400">
            <a:solidFill>
              <a:srgbClr val="4C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988026" y="2559050"/>
            <a:ext cx="77012" cy="266700"/>
          </a:xfrm>
          <a:prstGeom prst="round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65200" y="2832100"/>
            <a:ext cx="1099839" cy="0"/>
          </a:xfrm>
          <a:prstGeom prst="line">
            <a:avLst/>
          </a:prstGeom>
          <a:ln w="50800">
            <a:solidFill>
              <a:srgbClr val="5E71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065039" y="2559050"/>
            <a:ext cx="341744" cy="266700"/>
          </a:xfrm>
          <a:prstGeom prst="roundRect">
            <a:avLst/>
          </a:prstGeom>
          <a:solidFill>
            <a:srgbClr val="234F96"/>
          </a:solidFill>
          <a:ln w="25400">
            <a:solidFill>
              <a:srgbClr val="4C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406783" y="2559050"/>
            <a:ext cx="77012" cy="266700"/>
          </a:xfrm>
          <a:prstGeom prst="round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65200" y="2832100"/>
            <a:ext cx="1518596" cy="0"/>
          </a:xfrm>
          <a:prstGeom prst="line">
            <a:avLst/>
          </a:prstGeom>
          <a:ln w="50800">
            <a:solidFill>
              <a:srgbClr val="5E71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483796" y="2559050"/>
            <a:ext cx="182905" cy="266700"/>
          </a:xfrm>
          <a:prstGeom prst="roundRect">
            <a:avLst/>
          </a:prstGeom>
          <a:solidFill>
            <a:srgbClr val="234F96"/>
          </a:solidFill>
          <a:ln w="25400">
            <a:solidFill>
              <a:srgbClr val="4C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666701" y="2559050"/>
            <a:ext cx="63500" cy="266700"/>
          </a:xfrm>
          <a:prstGeom prst="round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965200" y="2832100"/>
            <a:ext cx="1740007" cy="0"/>
          </a:xfrm>
          <a:prstGeom prst="line">
            <a:avLst/>
          </a:prstGeom>
          <a:ln w="50800">
            <a:solidFill>
              <a:srgbClr val="5E71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705207" y="2559050"/>
            <a:ext cx="341744" cy="266700"/>
          </a:xfrm>
          <a:prstGeom prst="roundRect">
            <a:avLst/>
          </a:prstGeom>
          <a:solidFill>
            <a:srgbClr val="234F96"/>
          </a:solidFill>
          <a:ln w="25400">
            <a:solidFill>
              <a:srgbClr val="4C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046952" y="2559050"/>
            <a:ext cx="77012" cy="266700"/>
          </a:xfrm>
          <a:prstGeom prst="round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965200" y="2832100"/>
            <a:ext cx="2158765" cy="0"/>
          </a:xfrm>
          <a:prstGeom prst="line">
            <a:avLst/>
          </a:prstGeom>
          <a:ln w="50800">
            <a:solidFill>
              <a:srgbClr val="5E71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123965" y="2559050"/>
            <a:ext cx="96265" cy="266700"/>
          </a:xfrm>
          <a:prstGeom prst="roundRect">
            <a:avLst/>
          </a:prstGeom>
          <a:solidFill>
            <a:srgbClr val="234F96"/>
          </a:solidFill>
          <a:ln w="25400">
            <a:solidFill>
              <a:srgbClr val="4C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20231" y="2559050"/>
            <a:ext cx="63500" cy="266700"/>
          </a:xfrm>
          <a:prstGeom prst="round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" y="3136900"/>
            <a:ext cx="3429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4F7FB"/>
                </a:solidFill>
                <a:latin typeface="NanumSquare"/>
              </a:rPr>
              <a:t>C1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5200" y="3060700"/>
            <a:ext cx="4813300" cy="368300"/>
          </a:xfrm>
          <a:prstGeom prst="round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5200" y="3060700"/>
            <a:ext cx="4813300" cy="368300"/>
          </a:xfrm>
          <a:prstGeom prst="roundRect">
            <a:avLst/>
          </a:prstGeom>
          <a:solidFill>
            <a:srgbClr val="121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11750" y="3136900"/>
            <a:ext cx="533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1B44C"/>
                </a:solidFill>
                <a:latin typeface="NanumSquare"/>
              </a:rPr>
              <a:t>유휴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" y="3689350"/>
            <a:ext cx="3429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4F7FB"/>
                </a:solidFill>
                <a:latin typeface="NanumSquare"/>
              </a:rPr>
              <a:t>C2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5200" y="3613150"/>
            <a:ext cx="4813300" cy="368300"/>
          </a:xfrm>
          <a:prstGeom prst="round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5200" y="3613150"/>
            <a:ext cx="4813300" cy="368300"/>
          </a:xfrm>
          <a:prstGeom prst="roundRect">
            <a:avLst/>
          </a:prstGeom>
          <a:solidFill>
            <a:srgbClr val="121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11750" y="3689350"/>
            <a:ext cx="533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1B44C"/>
                </a:solidFill>
                <a:latin typeface="NanumSquare"/>
              </a:rPr>
              <a:t>유휴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" y="4241800"/>
            <a:ext cx="3429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4F7FB"/>
                </a:solidFill>
                <a:latin typeface="NanumSquare"/>
              </a:rPr>
              <a:t>C3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5200" y="4165600"/>
            <a:ext cx="4813300" cy="368300"/>
          </a:xfrm>
          <a:prstGeom prst="round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65200" y="4165600"/>
            <a:ext cx="4813300" cy="368300"/>
          </a:xfrm>
          <a:prstGeom prst="roundRect">
            <a:avLst/>
          </a:prstGeom>
          <a:solidFill>
            <a:srgbClr val="121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11750" y="4241800"/>
            <a:ext cx="533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1B44C"/>
                </a:solidFill>
                <a:latin typeface="NanumSquare"/>
              </a:rPr>
              <a:t>유휴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3500" y="1905000"/>
            <a:ext cx="5207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6D7E7"/>
                </a:solidFill>
                <a:latin typeface="NanumSquare"/>
              </a:rPr>
              <a:t>S3 지역성 인식 Work Stealing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3500" y="2159000"/>
            <a:ext cx="5207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1A5BA"/>
                </a:solidFill>
                <a:latin typeface="NanumSquare"/>
              </a:rPr>
              <a:t>동일 2k cycle 구간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3500" y="2584450"/>
            <a:ext cx="3429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4F7FB"/>
                </a:solidFill>
                <a:latin typeface="NanumSquare"/>
              </a:rPr>
              <a:t>C0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07200" y="2508250"/>
            <a:ext cx="4813300" cy="368300"/>
          </a:xfrm>
          <a:prstGeom prst="round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6807200" y="2832100"/>
            <a:ext cx="339337" cy="0"/>
          </a:xfrm>
          <a:prstGeom prst="line">
            <a:avLst/>
          </a:prstGeom>
          <a:ln w="50800">
            <a:solidFill>
              <a:srgbClr val="5E71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146537" y="2559050"/>
            <a:ext cx="2844660" cy="266700"/>
          </a:xfrm>
          <a:prstGeom prst="roundRect">
            <a:avLst/>
          </a:prstGeom>
          <a:solidFill>
            <a:srgbClr val="234F96"/>
          </a:solidFill>
          <a:ln w="25400">
            <a:solidFill>
              <a:srgbClr val="4C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991197" y="2559050"/>
            <a:ext cx="616102" cy="266700"/>
          </a:xfrm>
          <a:prstGeom prst="round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97337" y="2590800"/>
            <a:ext cx="274306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7FB"/>
                </a:solidFill>
                <a:latin typeface="NanumSquare"/>
              </a:rPr>
              <a:t>J120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3500" y="3136900"/>
            <a:ext cx="3429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4F7FB"/>
                </a:solidFill>
                <a:latin typeface="NanumSquare"/>
              </a:rPr>
              <a:t>C1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07200" y="3060700"/>
            <a:ext cx="4813300" cy="368300"/>
          </a:xfrm>
          <a:prstGeom prst="round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6807200" y="3384550"/>
            <a:ext cx="580002" cy="0"/>
          </a:xfrm>
          <a:prstGeom prst="line">
            <a:avLst/>
          </a:prstGeom>
          <a:ln w="50800">
            <a:solidFill>
              <a:srgbClr val="5E71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7387202" y="3111500"/>
            <a:ext cx="3128645" cy="266700"/>
          </a:xfrm>
          <a:prstGeom prst="roundRect">
            <a:avLst/>
          </a:prstGeom>
          <a:solidFill>
            <a:srgbClr val="176A64"/>
          </a:solidFill>
          <a:ln w="25400">
            <a:solidFill>
              <a:srgbClr val="28B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515847" y="3111500"/>
            <a:ext cx="63500" cy="266700"/>
          </a:xfrm>
          <a:prstGeom prst="roundRect">
            <a:avLst/>
          </a:prstGeom>
          <a:solidFill>
            <a:srgbClr val="28B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38002" y="3143250"/>
            <a:ext cx="302704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7FB"/>
                </a:solidFill>
                <a:latin typeface="NanumSquare"/>
              </a:rPr>
              <a:t>J172 · C0→C1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13500" y="3689350"/>
            <a:ext cx="3429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4F7FB"/>
                </a:solidFill>
                <a:latin typeface="NanumSquare"/>
              </a:rPr>
              <a:t>C2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07200" y="3613150"/>
            <a:ext cx="4813300" cy="368300"/>
          </a:xfrm>
          <a:prstGeom prst="round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6807200" y="3937000"/>
            <a:ext cx="541496" cy="0"/>
          </a:xfrm>
          <a:prstGeom prst="line">
            <a:avLst/>
          </a:prstGeom>
          <a:ln w="50800">
            <a:solidFill>
              <a:srgbClr val="5E71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7348696" y="3663950"/>
            <a:ext cx="2984246" cy="266700"/>
          </a:xfrm>
          <a:prstGeom prst="roundRect">
            <a:avLst/>
          </a:prstGeom>
          <a:solidFill>
            <a:srgbClr val="176A64"/>
          </a:solidFill>
          <a:ln w="25400">
            <a:solidFill>
              <a:srgbClr val="28B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0332942" y="3663950"/>
            <a:ext cx="77012" cy="266700"/>
          </a:xfrm>
          <a:prstGeom prst="roundRect">
            <a:avLst/>
          </a:prstGeom>
          <a:solidFill>
            <a:srgbClr val="28B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99496" y="3695700"/>
            <a:ext cx="2882646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7FB"/>
                </a:solidFill>
                <a:latin typeface="NanumSquare"/>
              </a:rPr>
              <a:t>J162 · C0→C2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13500" y="4241800"/>
            <a:ext cx="3429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4F7FB"/>
                </a:solidFill>
                <a:latin typeface="NanumSquare"/>
              </a:rPr>
              <a:t>C3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807200" y="4165600"/>
            <a:ext cx="4813300" cy="368300"/>
          </a:xfrm>
          <a:prstGeom prst="round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6807200" y="4489450"/>
            <a:ext cx="637762" cy="0"/>
          </a:xfrm>
          <a:prstGeom prst="line">
            <a:avLst/>
          </a:prstGeom>
          <a:ln w="50800">
            <a:solidFill>
              <a:srgbClr val="5E71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7444962" y="4216400"/>
            <a:ext cx="3773627" cy="266700"/>
          </a:xfrm>
          <a:prstGeom prst="roundRect">
            <a:avLst/>
          </a:prstGeom>
          <a:solidFill>
            <a:srgbClr val="176A64"/>
          </a:solidFill>
          <a:ln w="25400">
            <a:solidFill>
              <a:srgbClr val="28B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1218589" y="4216400"/>
            <a:ext cx="154025" cy="266700"/>
          </a:xfrm>
          <a:prstGeom prst="roundRect">
            <a:avLst/>
          </a:prstGeom>
          <a:solidFill>
            <a:srgbClr val="28B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95762" y="4248150"/>
            <a:ext cx="3672027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7FB"/>
                </a:solidFill>
                <a:latin typeface="NanumSquare"/>
              </a:rPr>
              <a:t>J143 · C0→C3</a:t>
            </a:r>
          </a:p>
        </p:txBody>
      </p:sp>
      <p:sp>
        <p:nvSpPr>
          <p:cNvPr id="64" name="Chevron 63"/>
          <p:cNvSpPr/>
          <p:nvPr/>
        </p:nvSpPr>
        <p:spPr>
          <a:xfrm>
            <a:off x="5778500" y="2635250"/>
            <a:ext cx="495299" cy="482600"/>
          </a:xfrm>
          <a:prstGeom prst="chevron">
            <a:avLst/>
          </a:prstGeom>
          <a:solidFill>
            <a:srgbClr val="36D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64200" y="3206750"/>
            <a:ext cx="7366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6D7E7"/>
                </a:solidFill>
                <a:latin typeface="NanumSquare"/>
              </a:rPr>
              <a:t>재배치</a:t>
            </a:r>
          </a:p>
        </p:txBody>
      </p:sp>
      <p:sp>
        <p:nvSpPr>
          <p:cNvPr id="66" name="Oval 65"/>
          <p:cNvSpPr/>
          <p:nvPr/>
        </p:nvSpPr>
        <p:spPr>
          <a:xfrm>
            <a:off x="8837225" y="2787650"/>
            <a:ext cx="228600" cy="228600"/>
          </a:xfrm>
          <a:prstGeom prst="ellipse">
            <a:avLst/>
          </a:prstGeom>
          <a:solidFill>
            <a:srgbClr val="36D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837225" y="2800350"/>
            <a:ext cx="2286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7111F"/>
                </a:solidFill>
                <a:latin typeface="NanumSquare"/>
              </a:rPr>
              <a:t>1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8951525" y="3028950"/>
            <a:ext cx="0" cy="184150"/>
          </a:xfrm>
          <a:prstGeom prst="line">
            <a:avLst/>
          </a:prstGeom>
          <a:ln w="38100">
            <a:solidFill>
              <a:srgbClr val="36D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8726519" y="3340100"/>
            <a:ext cx="228600" cy="228600"/>
          </a:xfrm>
          <a:prstGeom prst="ellipse">
            <a:avLst/>
          </a:prstGeom>
          <a:solidFill>
            <a:srgbClr val="36D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26519" y="3352800"/>
            <a:ext cx="2286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7111F"/>
                </a:solidFill>
                <a:latin typeface="NanumSquare"/>
              </a:rPr>
              <a:t>2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840819" y="3581400"/>
            <a:ext cx="0" cy="184150"/>
          </a:xfrm>
          <a:prstGeom prst="line">
            <a:avLst/>
          </a:prstGeom>
          <a:ln w="38100">
            <a:solidFill>
              <a:srgbClr val="36D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9217475" y="3892550"/>
            <a:ext cx="228600" cy="228600"/>
          </a:xfrm>
          <a:prstGeom prst="ellipse">
            <a:avLst/>
          </a:prstGeom>
          <a:solidFill>
            <a:srgbClr val="36D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17475" y="3905249"/>
            <a:ext cx="2286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7111F"/>
                </a:solidFill>
                <a:latin typeface="NanumSquare"/>
              </a:rPr>
              <a:t>3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9331775" y="4133849"/>
            <a:ext cx="0" cy="184151"/>
          </a:xfrm>
          <a:prstGeom prst="line">
            <a:avLst/>
          </a:prstGeom>
          <a:ln w="38100">
            <a:solidFill>
              <a:srgbClr val="36D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71500" y="4826000"/>
            <a:ext cx="11049000" cy="0"/>
          </a:xfrm>
          <a:prstGeom prst="line">
            <a:avLst/>
          </a:prstGeom>
          <a:ln w="25400">
            <a:solidFill>
              <a:srgbClr val="203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920750" y="5080000"/>
            <a:ext cx="2730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6D7E7"/>
                </a:solidFill>
                <a:latin typeface="NanumSquare"/>
              </a:rPr>
              <a:t>3 → 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0750" y="5499100"/>
            <a:ext cx="2730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1A5BA"/>
                </a:solidFill>
                <a:latin typeface="NanumSquare"/>
              </a:rPr>
              <a:t>유휴 클러스터 활용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30750" y="5080000"/>
            <a:ext cx="2730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4C8DFF"/>
                </a:solidFill>
                <a:latin typeface="NanumSquare"/>
              </a:rPr>
              <a:t>-18.12%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30750" y="5499100"/>
            <a:ext cx="2730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1A5BA"/>
                </a:solidFill>
                <a:latin typeface="NanumSquare"/>
              </a:rPr>
              <a:t>p95 지연 감소 · S3 vs S1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40750" y="5080000"/>
            <a:ext cx="2730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8B6A6"/>
                </a:solidFill>
                <a:latin typeface="NanumSquare"/>
              </a:rPr>
              <a:t>1.45 MiB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40750" y="5499100"/>
            <a:ext cx="2730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1A5BA"/>
                </a:solidFill>
                <a:latin typeface="NanumSquare"/>
              </a:rPr>
              <a:t>원격 가중치 이동 발생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342900"/>
            <a:ext cx="342900" cy="44450"/>
          </a:xfrm>
          <a:prstGeom prst="rect">
            <a:avLst/>
          </a:prstGeom>
          <a:solidFill>
            <a:srgbClr val="36D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482600"/>
            <a:ext cx="11049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4F7FB"/>
                </a:solidFill>
                <a:latin typeface="NanumSquare"/>
              </a:rPr>
              <a:t>Tail은 얼마나 줄었나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990599"/>
            <a:ext cx="10668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1A5BA"/>
                </a:solidFill>
                <a:latin typeface="NanumSquare"/>
              </a:rPr>
              <a:t>작업 치우침 조건에서 p95와 p99가 모두 약 18% 감소했다.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7000" y="1778000"/>
            <a:ext cx="2794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4F7FB"/>
                </a:solidFill>
                <a:latin typeface="NanumSquare"/>
              </a:rPr>
              <a:t>p95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3250" y="2562965"/>
            <a:ext cx="762000" cy="2580534"/>
          </a:xfrm>
          <a:prstGeom prst="roundRect">
            <a:avLst/>
          </a:prstGeom>
          <a:solidFill>
            <a:srgbClr val="5E7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3250" y="5270500"/>
            <a:ext cx="76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E7188"/>
                </a:solidFill>
                <a:latin typeface="NanumSquare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2750" y="2207365"/>
            <a:ext cx="1143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4F7FB"/>
                </a:solidFill>
                <a:latin typeface="NanumSquare"/>
              </a:rPr>
              <a:t>285.3k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6250" y="3030608"/>
            <a:ext cx="762000" cy="2112891"/>
          </a:xfrm>
          <a:prstGeom prst="roundRect">
            <a:avLst/>
          </a:prstGeom>
          <a:solidFill>
            <a:srgbClr val="36D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6250" y="5270500"/>
            <a:ext cx="76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6D7E7"/>
                </a:solidFill>
                <a:latin typeface="NanumSquare"/>
              </a:rPr>
              <a:t>S3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25750" y="2675008"/>
            <a:ext cx="1143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4F7FB"/>
                </a:solidFill>
                <a:latin typeface="NanumSquare"/>
              </a:rPr>
              <a:t>233.6k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8750" y="5683250"/>
            <a:ext cx="2730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6D7E7"/>
                </a:solidFill>
                <a:latin typeface="NanumSquare"/>
              </a:rPr>
              <a:t>-18.12%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750" y="6102350"/>
            <a:ext cx="2730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1A5BA"/>
                </a:solidFill>
                <a:latin typeface="NanumSquare"/>
              </a:rPr>
              <a:t>p95 감소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5500" y="1778000"/>
            <a:ext cx="2794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4F7FB"/>
                </a:solidFill>
                <a:latin typeface="NanumSquare"/>
              </a:rPr>
              <a:t>p99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1750" y="2410544"/>
            <a:ext cx="762000" cy="2732955"/>
          </a:xfrm>
          <a:prstGeom prst="roundRect">
            <a:avLst/>
          </a:prstGeom>
          <a:solidFill>
            <a:srgbClr val="5E7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1750" y="5270500"/>
            <a:ext cx="76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E7188"/>
                </a:solidFill>
                <a:latin typeface="NanumSquare"/>
              </a:rPr>
              <a:t>S1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1250" y="2054944"/>
            <a:ext cx="1143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4F7FB"/>
                </a:solidFill>
                <a:latin typeface="NanumSquare"/>
              </a:rPr>
              <a:t>302.2k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24749" y="2906966"/>
            <a:ext cx="762000" cy="2236533"/>
          </a:xfrm>
          <a:prstGeom prst="roundRect">
            <a:avLst/>
          </a:prstGeom>
          <a:solidFill>
            <a:srgbClr val="36D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4749" y="5270500"/>
            <a:ext cx="76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6D7E7"/>
                </a:solidFill>
                <a:latin typeface="NanumSquare"/>
              </a:rPr>
              <a:t>S3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4250" y="2551366"/>
            <a:ext cx="1143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4F7FB"/>
                </a:solidFill>
                <a:latin typeface="NanumSquare"/>
              </a:rPr>
              <a:t>247.3k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7250" y="5683250"/>
            <a:ext cx="2730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6D7E7"/>
                </a:solidFill>
                <a:latin typeface="NanumSquare"/>
              </a:rPr>
              <a:t>-18.16%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37250" y="6102350"/>
            <a:ext cx="2730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1A5BA"/>
                </a:solidFill>
                <a:latin typeface="NanumSquare"/>
              </a:rPr>
              <a:t>p99 감소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32500" y="1905000"/>
            <a:ext cx="0" cy="4381500"/>
          </a:xfrm>
          <a:prstGeom prst="line">
            <a:avLst/>
          </a:prstGeom>
          <a:ln w="25400">
            <a:solidFill>
              <a:srgbClr val="203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730500" y="1555750"/>
            <a:ext cx="673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1B44C"/>
                </a:solidFill>
                <a:latin typeface="NanumSquare"/>
              </a:rPr>
              <a:t>실험 B · 제어된 치우침 스트레스 · 1,000개 작업 · 5개 seed 중앙값 · 분석 모델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342900"/>
            <a:ext cx="342900" cy="44450"/>
          </a:xfrm>
          <a:prstGeom prst="rect">
            <a:avLst/>
          </a:prstGeom>
          <a:solidFill>
            <a:srgbClr val="36D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482600"/>
            <a:ext cx="11049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4F7FB"/>
                </a:solidFill>
                <a:latin typeface="NanumSquare"/>
              </a:rPr>
              <a:t>Work Stealing은 병목을 없애지 않고 이동시킨다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990599"/>
            <a:ext cx="10668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1A5BA"/>
                </a:solidFill>
                <a:latin typeface="NanumSquare"/>
              </a:rPr>
              <a:t>큐 대기는 줄어들지만 원격 가중치 이동으로 링크와 메모리 부담이 증가한다.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30500" y="1638300"/>
            <a:ext cx="673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1B44C"/>
                </a:solidFill>
                <a:latin typeface="NanumSquare"/>
              </a:rPr>
              <a:t>실험 B · 제어된 치우침 스트레스 · 1,000개 작업 · 5개 seed 중앙값 · 분석 모델</a:t>
            </a:r>
          </a:p>
        </p:txBody>
      </p:sp>
      <p:sp>
        <p:nvSpPr>
          <p:cNvPr id="6" name="Oval 5"/>
          <p:cNvSpPr/>
          <p:nvPr/>
        </p:nvSpPr>
        <p:spPr>
          <a:xfrm>
            <a:off x="952500" y="2190750"/>
            <a:ext cx="469899" cy="469899"/>
          </a:xfrm>
          <a:prstGeom prst="ellipse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500" y="2254250"/>
            <a:ext cx="469899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111F"/>
                </a:solidFill>
                <a:latin typeface="NanumSquar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2889250"/>
            <a:ext cx="24765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4F7FB"/>
                </a:solidFill>
                <a:latin typeface="NanumSquare"/>
              </a:rPr>
              <a:t>Tail 감소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3397250"/>
            <a:ext cx="24765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4C8DFF"/>
                </a:solidFill>
                <a:latin typeface="NanumSquare"/>
              </a:rPr>
              <a:t>-18.12%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500" y="4032250"/>
            <a:ext cx="2476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1A5BA"/>
                </a:solidFill>
                <a:latin typeface="NanumSquare"/>
              </a:rPr>
              <a:t>p95 · S3 vs S1</a:t>
            </a:r>
          </a:p>
        </p:txBody>
      </p:sp>
      <p:sp>
        <p:nvSpPr>
          <p:cNvPr id="11" name="Chevron 10"/>
          <p:cNvSpPr/>
          <p:nvPr/>
        </p:nvSpPr>
        <p:spPr>
          <a:xfrm>
            <a:off x="3397250" y="3302000"/>
            <a:ext cx="793750" cy="406400"/>
          </a:xfrm>
          <a:prstGeom prst="chevron">
            <a:avLst/>
          </a:prstGeom>
          <a:solidFill>
            <a:srgbClr val="91A5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35500" y="2190750"/>
            <a:ext cx="469899" cy="469899"/>
          </a:xfrm>
          <a:prstGeom prst="ellipse">
            <a:avLst/>
          </a:prstGeom>
          <a:solidFill>
            <a:srgbClr val="36D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5500" y="2254250"/>
            <a:ext cx="469899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111F"/>
                </a:solidFill>
                <a:latin typeface="NanumSquare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8500" y="2889250"/>
            <a:ext cx="24765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4F7FB"/>
                </a:solidFill>
                <a:latin typeface="NanumSquare"/>
              </a:rPr>
              <a:t>원격 이동 최적화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8500" y="3397250"/>
            <a:ext cx="24765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36D7E7"/>
                </a:solidFill>
                <a:latin typeface="NanumSquare"/>
              </a:rPr>
              <a:t>-37.84%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8500" y="4032250"/>
            <a:ext cx="2476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1A5BA"/>
                </a:solidFill>
                <a:latin typeface="NanumSquare"/>
              </a:rPr>
              <a:t>가중치 · S3 vs S2</a:t>
            </a:r>
          </a:p>
        </p:txBody>
      </p:sp>
      <p:sp>
        <p:nvSpPr>
          <p:cNvPr id="17" name="Chevron 16"/>
          <p:cNvSpPr/>
          <p:nvPr/>
        </p:nvSpPr>
        <p:spPr>
          <a:xfrm>
            <a:off x="7080250" y="3302000"/>
            <a:ext cx="793750" cy="406400"/>
          </a:xfrm>
          <a:prstGeom prst="chevron">
            <a:avLst/>
          </a:prstGeom>
          <a:solidFill>
            <a:srgbClr val="91A5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18499" y="2190750"/>
            <a:ext cx="469899" cy="469899"/>
          </a:xfrm>
          <a:prstGeom prst="ellipse">
            <a:avLst/>
          </a:prstGeom>
          <a:solidFill>
            <a:srgbClr val="28B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8499" y="2254250"/>
            <a:ext cx="469899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111F"/>
                </a:solidFill>
                <a:latin typeface="NanumSquare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889250"/>
            <a:ext cx="24765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4F7FB"/>
                </a:solidFill>
                <a:latin typeface="NanumSquare"/>
              </a:rPr>
              <a:t>완료시간 절충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500" y="3397250"/>
            <a:ext cx="24765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28B6A6"/>
                </a:solidFill>
                <a:latin typeface="NanumSquare"/>
              </a:rPr>
              <a:t>+0.98%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1500" y="4032250"/>
            <a:ext cx="2476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1A5BA"/>
                </a:solidFill>
                <a:latin typeface="NanumSquare"/>
              </a:rPr>
              <a:t>완료시간 · S3 vs S2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16000" y="4826000"/>
            <a:ext cx="10096500" cy="0"/>
          </a:xfrm>
          <a:prstGeom prst="line">
            <a:avLst/>
          </a:prstGeom>
          <a:ln w="25400">
            <a:solidFill>
              <a:srgbClr val="203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270000" y="5175250"/>
            <a:ext cx="1968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C8DFF"/>
                </a:solidFill>
                <a:latin typeface="NanumSquare"/>
              </a:rPr>
              <a:t>큐 감소</a:t>
            </a:r>
          </a:p>
        </p:txBody>
      </p:sp>
      <p:sp>
        <p:nvSpPr>
          <p:cNvPr id="25" name="Chevron 24"/>
          <p:cNvSpPr/>
          <p:nvPr/>
        </p:nvSpPr>
        <p:spPr>
          <a:xfrm>
            <a:off x="3302000" y="5207000"/>
            <a:ext cx="1016000" cy="304800"/>
          </a:xfrm>
          <a:prstGeom prst="chevron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1500" y="5175250"/>
            <a:ext cx="2603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6D7E7"/>
                </a:solidFill>
                <a:latin typeface="NanumSquare"/>
              </a:rPr>
              <a:t>원격 가중치 이동</a:t>
            </a:r>
          </a:p>
        </p:txBody>
      </p:sp>
      <p:sp>
        <p:nvSpPr>
          <p:cNvPr id="27" name="Chevron 26"/>
          <p:cNvSpPr/>
          <p:nvPr/>
        </p:nvSpPr>
        <p:spPr>
          <a:xfrm>
            <a:off x="7048500" y="5207000"/>
            <a:ext cx="1016000" cy="304800"/>
          </a:xfrm>
          <a:prstGeom prst="chevron">
            <a:avLst/>
          </a:prstGeom>
          <a:solidFill>
            <a:srgbClr val="36D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8000" y="5175250"/>
            <a:ext cx="2667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8B6A6"/>
                </a:solidFill>
                <a:latin typeface="NanumSquare"/>
              </a:rPr>
              <a:t>링크·메모리 부담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342900"/>
            <a:ext cx="342900" cy="44450"/>
          </a:xfrm>
          <a:prstGeom prst="rect">
            <a:avLst/>
          </a:prstGeom>
          <a:solidFill>
            <a:srgbClr val="36D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482600"/>
            <a:ext cx="11049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4F7FB"/>
                </a:solidFill>
                <a:latin typeface="NanumSquare"/>
              </a:rPr>
              <a:t>알고리즘을 실제 보드 인터페이스로 내렸다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990599"/>
            <a:ext cx="10668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1A5BA"/>
                </a:solidFill>
                <a:latin typeface="NanumSquare"/>
              </a:rPr>
              <a:t>K26과 Memory FPGA 사이의 링크를 실제 KiCad 객체와 라우팅 쿠폰으로 구체화했다.</a:t>
            </a:r>
          </a:p>
        </p:txBody>
      </p:sp>
      <p:pic>
        <p:nvPicPr>
          <p:cNvPr id="5" name="Picture 4" descr="003_paper_f07_kicad_coupon_render_1210x6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492250"/>
            <a:ext cx="7683500" cy="431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8000" y="1492250"/>
            <a:ext cx="7683500" cy="4318000"/>
          </a:xfrm>
          <a:prstGeom prst="roundRect">
            <a:avLst/>
          </a:prstGeom>
          <a:solidFill>
            <a:srgbClr val="07111F"/>
          </a:solidFill>
          <a:ln w="25400">
            <a:solidFill>
              <a:srgbClr val="28B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05_kicad_link_crop_440x1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500" y="1555750"/>
            <a:ext cx="2794000" cy="9525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99500" y="1555750"/>
            <a:ext cx="2794000" cy="952500"/>
          </a:xfrm>
          <a:prstGeom prst="roundRect">
            <a:avLst/>
          </a:prstGeom>
          <a:solidFill>
            <a:srgbClr val="07111F"/>
          </a:solidFill>
          <a:ln w="25400">
            <a:solidFill>
              <a:srgbClr val="36D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99500" y="2546350"/>
            <a:ext cx="2794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4F7FB"/>
                </a:solidFill>
                <a:latin typeface="NanumSquare"/>
              </a:rPr>
              <a:t>K26–Memory FPGA 링크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91500" y="2032000"/>
            <a:ext cx="444500" cy="0"/>
          </a:xfrm>
          <a:prstGeom prst="line">
            <a:avLst/>
          </a:prstGeom>
          <a:ln w="25400">
            <a:solidFill>
              <a:srgbClr val="36D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009_kicad_refclk_crop_440x1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9500" y="2952750"/>
            <a:ext cx="2794000" cy="9525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699500" y="2952750"/>
            <a:ext cx="2794000" cy="952500"/>
          </a:xfrm>
          <a:prstGeom prst="roundRect">
            <a:avLst/>
          </a:prstGeom>
          <a:solidFill>
            <a:srgbClr val="07111F"/>
          </a:solidFill>
          <a:ln w="25400">
            <a:solidFill>
              <a:srgbClr val="28B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448800" y="3371850"/>
            <a:ext cx="1219200" cy="0"/>
          </a:xfrm>
          <a:prstGeom prst="line">
            <a:avLst/>
          </a:prstGeom>
          <a:ln w="38100">
            <a:solidFill>
              <a:srgbClr val="36D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448800" y="3448050"/>
            <a:ext cx="1219200" cy="0"/>
          </a:xfrm>
          <a:prstGeom prst="line">
            <a:avLst/>
          </a:prstGeom>
          <a:ln w="38100">
            <a:solidFill>
              <a:srgbClr val="F1B4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271000" y="3295650"/>
            <a:ext cx="177800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6D7E7"/>
                </a:solidFill>
                <a:latin typeface="NanumSquare"/>
              </a:rPr>
              <a:t>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1000" y="3384550"/>
            <a:ext cx="177800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1B44C"/>
                </a:solidFill>
                <a:latin typeface="NanumSquare"/>
              </a:rPr>
              <a:t>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99500" y="3943350"/>
            <a:ext cx="2794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4F7FB"/>
                </a:solidFill>
                <a:latin typeface="NanumSquare"/>
              </a:rPr>
              <a:t>기준 클록 차동쌍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91500" y="3429000"/>
            <a:ext cx="444500" cy="0"/>
          </a:xfrm>
          <a:prstGeom prst="line">
            <a:avLst/>
          </a:prstGeom>
          <a:ln w="25400">
            <a:solidFill>
              <a:srgbClr val="36D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017_kicad_routed_crop_440x1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4349750"/>
            <a:ext cx="2794000" cy="9525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699500" y="4349750"/>
            <a:ext cx="2794000" cy="952500"/>
          </a:xfrm>
          <a:prstGeom prst="roundRect">
            <a:avLst/>
          </a:prstGeom>
          <a:solidFill>
            <a:srgbClr val="07111F"/>
          </a:solidFill>
          <a:ln w="25400">
            <a:solidFill>
              <a:srgbClr val="28B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99500" y="5340350"/>
            <a:ext cx="2794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4F7FB"/>
                </a:solidFill>
                <a:latin typeface="NanumSquare"/>
              </a:rPr>
              <a:t>대표 라우팅 쿠폰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191500" y="4826000"/>
            <a:ext cx="444500" cy="0"/>
          </a:xfrm>
          <a:prstGeom prst="line">
            <a:avLst/>
          </a:prstGeom>
          <a:ln w="25400">
            <a:solidFill>
              <a:srgbClr val="36D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62000" y="5905500"/>
            <a:ext cx="1905000" cy="342900"/>
          </a:xfrm>
          <a:prstGeom prst="roundRect">
            <a:avLst/>
          </a:prstGeom>
          <a:solidFill>
            <a:srgbClr val="0B1627"/>
          </a:solidFill>
          <a:ln w="25400">
            <a:solidFill>
              <a:srgbClr val="4C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200" y="5956300"/>
            <a:ext cx="17526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C8DFF"/>
                </a:solidFill>
                <a:latin typeface="NanumSquare"/>
              </a:rPr>
              <a:t>풋프린트 29개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19400" y="5905500"/>
            <a:ext cx="2476500" cy="342900"/>
          </a:xfrm>
          <a:prstGeom prst="roundRect">
            <a:avLst/>
          </a:prstGeom>
          <a:solidFill>
            <a:srgbClr val="0B1627"/>
          </a:solidFill>
          <a:ln w="25400">
            <a:solidFill>
              <a:srgbClr val="28B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95600" y="5956300"/>
            <a:ext cx="23241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8B6A6"/>
                </a:solidFill>
                <a:latin typeface="NanumSquare"/>
              </a:rPr>
              <a:t>GTH/refclk 배선 20개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8300" y="5905500"/>
            <a:ext cx="2667000" cy="342900"/>
          </a:xfrm>
          <a:prstGeom prst="roundRect">
            <a:avLst/>
          </a:prstGeom>
          <a:solidFill>
            <a:srgbClr val="0B1627"/>
          </a:solidFill>
          <a:ln w="25400">
            <a:solidFill>
              <a:srgbClr val="36D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24500" y="5956300"/>
            <a:ext cx="25146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6D7E7"/>
                </a:solidFill>
                <a:latin typeface="NanumSquare"/>
              </a:rPr>
              <a:t>쿠폰 ERC 0 · 부분 DRC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5500" y="5981700"/>
            <a:ext cx="317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6B6B"/>
                </a:solidFill>
                <a:latin typeface="NanumSquare"/>
              </a:rPr>
              <a:t>NOT FOR FABRICATION · 참조 쿠폰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342900"/>
            <a:ext cx="342900" cy="44450"/>
          </a:xfrm>
          <a:prstGeom prst="rect">
            <a:avLst/>
          </a:prstGeom>
          <a:solidFill>
            <a:srgbClr val="36D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482600"/>
            <a:ext cx="11049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4F7FB"/>
                </a:solidFill>
                <a:latin typeface="NanumSquare"/>
              </a:rPr>
              <a:t>조건을 찾았고, 다음은 폐루프 검증이다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990599"/>
            <a:ext cx="10668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1A5BA"/>
                </a:solidFill>
                <a:latin typeface="NanumSquare"/>
              </a:rPr>
              <a:t>실제 작업 부하·스케줄러·물리 참조를 연결해 Work Stealing이 유효한 조건을 제시했다.</a:t>
            </a:r>
          </a:p>
        </p:txBody>
      </p:sp>
      <p:sp>
        <p:nvSpPr>
          <p:cNvPr id="5" name="Oval 4"/>
          <p:cNvSpPr/>
          <p:nvPr/>
        </p:nvSpPr>
        <p:spPr>
          <a:xfrm>
            <a:off x="1333500" y="2476500"/>
            <a:ext cx="1206500" cy="1206500"/>
          </a:xfrm>
          <a:prstGeom prst="ellipse">
            <a:avLst/>
          </a:prstGeom>
          <a:solidFill>
            <a:srgbClr val="0B1627"/>
          </a:solidFill>
          <a:ln w="38100">
            <a:solidFill>
              <a:srgbClr val="4C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51000" y="2730500"/>
            <a:ext cx="571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4C8DFF"/>
                </a:solidFill>
                <a:latin typeface="NanumSquar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873499"/>
            <a:ext cx="23495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4F7FB"/>
                </a:solidFill>
                <a:latin typeface="NanumSquare"/>
              </a:rPr>
              <a:t>실제 Gemma
작업 부하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540250"/>
            <a:ext cx="2349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91A5BA"/>
                </a:solidFill>
                <a:latin typeface="NanumSquare"/>
              </a:rPr>
              <a:t>그래프 → TileJob</a:t>
            </a:r>
          </a:p>
        </p:txBody>
      </p:sp>
      <p:sp>
        <p:nvSpPr>
          <p:cNvPr id="9" name="Chevron 8"/>
          <p:cNvSpPr/>
          <p:nvPr/>
        </p:nvSpPr>
        <p:spPr>
          <a:xfrm>
            <a:off x="3302000" y="2889250"/>
            <a:ext cx="762000" cy="381000"/>
          </a:xfrm>
          <a:prstGeom prst="chevron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80000" y="2476500"/>
            <a:ext cx="1206500" cy="1206500"/>
          </a:xfrm>
          <a:prstGeom prst="ellipse">
            <a:avLst/>
          </a:prstGeom>
          <a:solidFill>
            <a:srgbClr val="0B1627"/>
          </a:solidFill>
          <a:ln w="38100">
            <a:solidFill>
              <a:srgbClr val="36D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7500" y="2730500"/>
            <a:ext cx="571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36D7E7"/>
                </a:solidFill>
                <a:latin typeface="NanumSquar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8500" y="3873499"/>
            <a:ext cx="23495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4F7FB"/>
                </a:solidFill>
                <a:latin typeface="NanumSquare"/>
              </a:rPr>
              <a:t>지역성 인식
스케줄링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8500" y="4540250"/>
            <a:ext cx="2349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91A5BA"/>
                </a:solidFill>
                <a:latin typeface="NanumSquare"/>
              </a:rPr>
              <a:t>Tail + 이동 비용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8500" y="2889250"/>
            <a:ext cx="762000" cy="381000"/>
          </a:xfrm>
          <a:prstGeom prst="chevron">
            <a:avLst/>
          </a:prstGeom>
          <a:solidFill>
            <a:srgbClr val="36D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26500" y="2476500"/>
            <a:ext cx="1206500" cy="1206500"/>
          </a:xfrm>
          <a:prstGeom prst="ellipse">
            <a:avLst/>
          </a:prstGeom>
          <a:solidFill>
            <a:srgbClr val="0B1627"/>
          </a:solidFill>
          <a:ln w="38100">
            <a:solidFill>
              <a:srgbClr val="28B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730500"/>
            <a:ext cx="571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B6A6"/>
                </a:solidFill>
                <a:latin typeface="NanumSquare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5000" y="3873499"/>
            <a:ext cx="23495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4F7FB"/>
                </a:solidFill>
                <a:latin typeface="NanumSquare"/>
              </a:rPr>
              <a:t>물리 참조 설계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5000" y="4540250"/>
            <a:ext cx="2349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91A5BA"/>
                </a:solidFill>
                <a:latin typeface="NanumSquare"/>
              </a:rPr>
              <a:t>RTL → KiCad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79500" y="5080000"/>
            <a:ext cx="10033000" cy="0"/>
          </a:xfrm>
          <a:prstGeom prst="line">
            <a:avLst/>
          </a:prstGeom>
          <a:ln w="25400">
            <a:solidFill>
              <a:srgbClr val="203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16000" y="5346700"/>
            <a:ext cx="1333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1B44C"/>
                </a:solidFill>
                <a:latin typeface="NanumSquare"/>
              </a:rPr>
              <a:t>다음 검증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270500"/>
            <a:ext cx="8255000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4F7FB"/>
                </a:solidFill>
                <a:latin typeface="NanumSquare"/>
              </a:rPr>
              <a:t>DDR 응답  →  Link 수신  →  Weight FIFO  →  MatVec 폐루프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7500" y="5905500"/>
            <a:ext cx="6477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91A5BA"/>
                </a:solidFill>
                <a:latin typeface="NanumSquare"/>
              </a:rPr>
              <a:t>현재: analytical/RTL-bounded · 보드 성능·전력은 미측정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 Stealing으로 줄이는 Tail Latency</dc:title>
  <dc:subject/>
  <dc:creator>CHOI YUNHYUK</dc:creator>
  <cp:keywords/>
  <dc:description>generated using python-pptx</dc:description>
  <cp:lastModifiedBy>Steve Canny</cp:lastModifiedBy>
  <cp:revision>1</cp:revision>
  <dcterms:created xsi:type="dcterms:W3CDTF">2026-07-31T00:00:00Z</dcterms:created>
  <dcterms:modified xsi:type="dcterms:W3CDTF">2026-07-31T00:00:00Z</dcterms:modified>
  <cp:category/>
</cp:coreProperties>
</file>